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Open Sans" panose="020B0606030504020204" pitchFamily="34" charset="0"/>
      <p:regular r:id="rId10"/>
      <p:bold r:id="rId11"/>
      <p:boldItalic r:id="rId12"/>
    </p:embeddedFont>
    <p:embeddedFont>
      <p:font typeface="Open Sans Medium" panose="020B0604020202020204" charset="0"/>
      <p:regular r:id="rId13"/>
      <p:bold r:id="rId14"/>
      <p:italic r:id="rId15"/>
      <p:boldItalic r:id="rId16"/>
    </p:embeddedFont>
    <p:embeddedFont>
      <p:font typeface="Open Sans SemiBold" panose="020B0706030804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iw/UjmbOe4sHIBUT5O8XSxEuR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802"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7"/>
          <p:cNvSpPr>
            <a:spLocks noGrp="1"/>
          </p:cNvSpPr>
          <p:nvPr>
            <p:ph type="pic" idx="2"/>
          </p:nvPr>
        </p:nvSpPr>
        <p:spPr>
          <a:xfrm>
            <a:off x="1792288" y="612775"/>
            <a:ext cx="5486400" cy="4114800"/>
          </a:xfrm>
          <a:prstGeom prst="rect">
            <a:avLst/>
          </a:prstGeom>
          <a:noFill/>
          <a:ln>
            <a:noFill/>
          </a:ln>
        </p:spPr>
      </p:sp>
      <p:sp>
        <p:nvSpPr>
          <p:cNvPr id="64" name="Google Shape;64;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cxnSp>
        <p:nvCxnSpPr>
          <p:cNvPr id="84" name="Google Shape;84;p1"/>
          <p:cNvCxnSpPr/>
          <p:nvPr/>
        </p:nvCxnSpPr>
        <p:spPr>
          <a:xfrm rot="-5400000">
            <a:off x="-1235494" y="6712126"/>
            <a:ext cx="4576012" cy="0"/>
          </a:xfrm>
          <a:prstGeom prst="straightConnector1">
            <a:avLst/>
          </a:prstGeom>
          <a:noFill/>
          <a:ln w="95250" cap="rnd" cmpd="sng">
            <a:solidFill>
              <a:srgbClr val="5E2B7F"/>
            </a:solidFill>
            <a:prstDash val="solid"/>
            <a:round/>
            <a:headEnd type="none" w="sm" len="sm"/>
            <a:tailEnd type="none" w="sm" len="sm"/>
          </a:ln>
        </p:spPr>
      </p:cxnSp>
      <p:cxnSp>
        <p:nvCxnSpPr>
          <p:cNvPr id="85" name="Google Shape;85;p1"/>
          <p:cNvCxnSpPr/>
          <p:nvPr/>
        </p:nvCxnSpPr>
        <p:spPr>
          <a:xfrm rot="-5400000">
            <a:off x="-1235494" y="3269081"/>
            <a:ext cx="4576012" cy="0"/>
          </a:xfrm>
          <a:prstGeom prst="straightConnector1">
            <a:avLst/>
          </a:prstGeom>
          <a:noFill/>
          <a:ln w="95250" cap="rnd" cmpd="sng">
            <a:solidFill>
              <a:srgbClr val="F9C314"/>
            </a:solidFill>
            <a:prstDash val="solid"/>
            <a:round/>
            <a:headEnd type="none" w="sm" len="sm"/>
            <a:tailEnd type="none" w="sm" len="sm"/>
          </a:ln>
        </p:spPr>
      </p:cxnSp>
      <p:grpSp>
        <p:nvGrpSpPr>
          <p:cNvPr id="86" name="Google Shape;86;p1"/>
          <p:cNvGrpSpPr/>
          <p:nvPr/>
        </p:nvGrpSpPr>
        <p:grpSpPr>
          <a:xfrm>
            <a:off x="9872106" y="-108496"/>
            <a:ext cx="8415894" cy="10395496"/>
            <a:chOff x="0" y="-28575"/>
            <a:chExt cx="2216532" cy="2737908"/>
          </a:xfrm>
        </p:grpSpPr>
        <p:sp>
          <p:nvSpPr>
            <p:cNvPr id="87" name="Google Shape;87;p1"/>
            <p:cNvSpPr/>
            <p:nvPr/>
          </p:nvSpPr>
          <p:spPr>
            <a:xfrm>
              <a:off x="0" y="0"/>
              <a:ext cx="2216532" cy="2709333"/>
            </a:xfrm>
            <a:custGeom>
              <a:avLst/>
              <a:gdLst/>
              <a:ahLst/>
              <a:cxnLst/>
              <a:rect l="l" t="t" r="r" b="b"/>
              <a:pathLst>
                <a:path w="2216532" h="2709333" extrusionOk="0">
                  <a:moveTo>
                    <a:pt x="0" y="0"/>
                  </a:moveTo>
                  <a:lnTo>
                    <a:pt x="2216532" y="0"/>
                  </a:lnTo>
                  <a:lnTo>
                    <a:pt x="2216532" y="2709333"/>
                  </a:lnTo>
                  <a:lnTo>
                    <a:pt x="0" y="2709333"/>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88" name="Google Shape;88;p1"/>
            <p:cNvSpPr txBox="1"/>
            <p:nvPr/>
          </p:nvSpPr>
          <p:spPr>
            <a:xfrm>
              <a:off x="0" y="-28575"/>
              <a:ext cx="2216532" cy="2737908"/>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9" name="Google Shape;89;p1"/>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F9C314">
              <a:alpha val="51764"/>
            </a:srgbClr>
          </a:solidFill>
          <a:ln>
            <a:noFill/>
          </a:ln>
        </p:spPr>
        <p:txBody>
          <a:bodyPr/>
          <a:lstStyle/>
          <a:p>
            <a:endParaRPr lang="tr-TR"/>
          </a:p>
        </p:txBody>
      </p:sp>
      <p:sp>
        <p:nvSpPr>
          <p:cNvPr id="90" name="Google Shape;90;p1"/>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F9C314">
              <a:alpha val="51764"/>
            </a:srgbClr>
          </a:solidFill>
          <a:ln>
            <a:noFill/>
          </a:ln>
        </p:spPr>
        <p:txBody>
          <a:bodyPr/>
          <a:lstStyle/>
          <a:p>
            <a:endParaRPr lang="tr-TR"/>
          </a:p>
        </p:txBody>
      </p:sp>
      <p:sp>
        <p:nvSpPr>
          <p:cNvPr id="91" name="Google Shape;91;p1"/>
          <p:cNvSpPr txBox="1"/>
          <p:nvPr/>
        </p:nvSpPr>
        <p:spPr>
          <a:xfrm>
            <a:off x="1570529" y="5403544"/>
            <a:ext cx="7773315" cy="588174"/>
          </a:xfrm>
          <a:prstGeom prst="rect">
            <a:avLst/>
          </a:prstGeom>
          <a:noFill/>
          <a:ln>
            <a:noFill/>
          </a:ln>
        </p:spPr>
        <p:txBody>
          <a:bodyPr spcFirstLastPara="1" wrap="square" lIns="0" tIns="0" rIns="0" bIns="0" anchor="t" anchorCtr="0">
            <a:spAutoFit/>
          </a:bodyPr>
          <a:lstStyle/>
          <a:p>
            <a:pPr marL="0" marR="0" lvl="0" indent="0" algn="l" rtl="0">
              <a:lnSpc>
                <a:spcPct val="91000"/>
              </a:lnSpc>
              <a:spcBef>
                <a:spcPts val="0"/>
              </a:spcBef>
              <a:spcAft>
                <a:spcPts val="0"/>
              </a:spcAft>
              <a:buNone/>
            </a:pPr>
            <a:r>
              <a:rPr lang="en-US" sz="4200" b="1" i="0" u="none" strike="noStrike" cap="none" dirty="0" err="1">
                <a:solidFill>
                  <a:srgbClr val="545454"/>
                </a:solidFill>
                <a:latin typeface="Open Sans"/>
                <a:ea typeface="Open Sans"/>
                <a:cs typeface="Open Sans"/>
                <a:sym typeface="Open Sans"/>
              </a:rPr>
              <a:t>Takım</a:t>
            </a:r>
            <a:r>
              <a:rPr lang="en-US" sz="4200" b="1" i="0" u="none" strike="noStrike" cap="none" dirty="0">
                <a:solidFill>
                  <a:srgbClr val="545454"/>
                </a:solidFill>
                <a:latin typeface="Open Sans"/>
                <a:ea typeface="Open Sans"/>
                <a:cs typeface="Open Sans"/>
                <a:sym typeface="Open Sans"/>
              </a:rPr>
              <a:t> </a:t>
            </a:r>
            <a:r>
              <a:rPr lang="en-US" sz="4200" b="1" i="0" u="none" strike="noStrike" cap="none" dirty="0" err="1">
                <a:solidFill>
                  <a:srgbClr val="545454"/>
                </a:solidFill>
                <a:latin typeface="Open Sans"/>
                <a:ea typeface="Open Sans"/>
                <a:cs typeface="Open Sans"/>
                <a:sym typeface="Open Sans"/>
              </a:rPr>
              <a:t>Adı</a:t>
            </a:r>
            <a:r>
              <a:rPr lang="en-US" sz="4200" b="1" i="0" u="none" strike="noStrike" cap="none" dirty="0">
                <a:solidFill>
                  <a:srgbClr val="545454"/>
                </a:solidFill>
                <a:latin typeface="Open Sans"/>
                <a:ea typeface="Open Sans"/>
                <a:cs typeface="Open Sans"/>
                <a:sym typeface="Open Sans"/>
              </a:rPr>
              <a:t>:</a:t>
            </a:r>
            <a:r>
              <a:rPr lang="tr-TR" sz="4200" b="1" i="0" u="none" strike="noStrike" cap="none" dirty="0">
                <a:solidFill>
                  <a:srgbClr val="545454"/>
                </a:solidFill>
                <a:latin typeface="Open Sans"/>
                <a:ea typeface="Open Sans"/>
                <a:cs typeface="Open Sans"/>
                <a:sym typeface="Open Sans"/>
              </a:rPr>
              <a:t> Team EA</a:t>
            </a:r>
            <a:endParaRPr dirty="0"/>
          </a:p>
        </p:txBody>
      </p:sp>
      <p:sp>
        <p:nvSpPr>
          <p:cNvPr id="92" name="Google Shape;92;p1"/>
          <p:cNvSpPr txBox="1"/>
          <p:nvPr/>
        </p:nvSpPr>
        <p:spPr>
          <a:xfrm>
            <a:off x="1570529" y="4022309"/>
            <a:ext cx="8415894" cy="588174"/>
          </a:xfrm>
          <a:prstGeom prst="rect">
            <a:avLst/>
          </a:prstGeom>
          <a:noFill/>
          <a:ln>
            <a:noFill/>
          </a:ln>
        </p:spPr>
        <p:txBody>
          <a:bodyPr spcFirstLastPara="1" wrap="square" lIns="0" tIns="0" rIns="0" bIns="0" anchor="t" anchorCtr="0">
            <a:spAutoFit/>
          </a:bodyPr>
          <a:lstStyle/>
          <a:p>
            <a:pPr marL="0" marR="0" lvl="0" indent="0" algn="l" rtl="0">
              <a:lnSpc>
                <a:spcPct val="91000"/>
              </a:lnSpc>
              <a:spcBef>
                <a:spcPts val="0"/>
              </a:spcBef>
              <a:spcAft>
                <a:spcPts val="0"/>
              </a:spcAft>
              <a:buNone/>
            </a:pPr>
            <a:r>
              <a:rPr lang="en-US" sz="4200" b="1" i="0" u="none" strike="noStrike" cap="none" dirty="0" err="1">
                <a:solidFill>
                  <a:srgbClr val="545454"/>
                </a:solidFill>
                <a:latin typeface="Open Sans"/>
                <a:ea typeface="Open Sans"/>
                <a:cs typeface="Open Sans"/>
                <a:sym typeface="Open Sans"/>
              </a:rPr>
              <a:t>Proje</a:t>
            </a:r>
            <a:r>
              <a:rPr lang="en-US" sz="4200" b="1" i="0" u="none" strike="noStrike" cap="none" dirty="0">
                <a:solidFill>
                  <a:srgbClr val="545454"/>
                </a:solidFill>
                <a:latin typeface="Open Sans"/>
                <a:ea typeface="Open Sans"/>
                <a:cs typeface="Open Sans"/>
                <a:sym typeface="Open Sans"/>
              </a:rPr>
              <a:t> </a:t>
            </a:r>
            <a:r>
              <a:rPr lang="en-US" sz="4200" b="1" i="0" u="none" strike="noStrike" cap="none" dirty="0" err="1">
                <a:solidFill>
                  <a:srgbClr val="545454"/>
                </a:solidFill>
                <a:latin typeface="Open Sans"/>
                <a:ea typeface="Open Sans"/>
                <a:cs typeface="Open Sans"/>
                <a:sym typeface="Open Sans"/>
              </a:rPr>
              <a:t>Adı</a:t>
            </a:r>
            <a:r>
              <a:rPr lang="tr-TR" sz="4200" b="1" dirty="0">
                <a:solidFill>
                  <a:srgbClr val="545454"/>
                </a:solidFill>
                <a:latin typeface="Open Sans"/>
                <a:ea typeface="Open Sans"/>
                <a:cs typeface="Open Sans"/>
                <a:sym typeface="Open Sans"/>
              </a:rPr>
              <a:t>: </a:t>
            </a:r>
            <a:r>
              <a:rPr lang="tr-TR" sz="4200" b="1" dirty="0" err="1">
                <a:solidFill>
                  <a:srgbClr val="545454"/>
                </a:solidFill>
                <a:latin typeface="Open Sans"/>
                <a:ea typeface="Open Sans"/>
                <a:cs typeface="Open Sans"/>
                <a:sym typeface="Open Sans"/>
              </a:rPr>
              <a:t>WildLife</a:t>
            </a:r>
            <a:r>
              <a:rPr lang="tr-TR" sz="4200" b="1" dirty="0">
                <a:solidFill>
                  <a:srgbClr val="545454"/>
                </a:solidFill>
                <a:latin typeface="Open Sans"/>
                <a:ea typeface="Open Sans"/>
                <a:cs typeface="Open Sans"/>
                <a:sym typeface="Open Sans"/>
              </a:rPr>
              <a:t> </a:t>
            </a:r>
            <a:r>
              <a:rPr lang="tr-TR" sz="4200" b="1" dirty="0" err="1">
                <a:solidFill>
                  <a:srgbClr val="545454"/>
                </a:solidFill>
                <a:latin typeface="Open Sans"/>
                <a:ea typeface="Open Sans"/>
                <a:cs typeface="Open Sans"/>
                <a:sym typeface="Open Sans"/>
              </a:rPr>
              <a:t>Echo</a:t>
            </a:r>
            <a:endParaRPr dirty="0"/>
          </a:p>
        </p:txBody>
      </p:sp>
      <p:sp>
        <p:nvSpPr>
          <p:cNvPr id="93" name="Google Shape;93;p1"/>
          <p:cNvSpPr txBox="1"/>
          <p:nvPr/>
        </p:nvSpPr>
        <p:spPr>
          <a:xfrm>
            <a:off x="1599464" y="6530723"/>
            <a:ext cx="7773315" cy="1176348"/>
          </a:xfrm>
          <a:prstGeom prst="rect">
            <a:avLst/>
          </a:prstGeom>
          <a:noFill/>
          <a:ln>
            <a:noFill/>
          </a:ln>
        </p:spPr>
        <p:txBody>
          <a:bodyPr spcFirstLastPara="1" wrap="square" lIns="0" tIns="0" rIns="0" bIns="0" anchor="t" anchorCtr="0">
            <a:spAutoFit/>
          </a:bodyPr>
          <a:lstStyle/>
          <a:p>
            <a:pPr marL="0" marR="0" lvl="0" indent="0" algn="l" rtl="0">
              <a:lnSpc>
                <a:spcPct val="91000"/>
              </a:lnSpc>
              <a:spcBef>
                <a:spcPts val="0"/>
              </a:spcBef>
              <a:spcAft>
                <a:spcPts val="0"/>
              </a:spcAft>
              <a:buNone/>
            </a:pPr>
            <a:r>
              <a:rPr lang="tr-TR" sz="4200" b="1" i="0" u="none" strike="noStrike" cap="none" dirty="0">
                <a:solidFill>
                  <a:srgbClr val="545454"/>
                </a:solidFill>
                <a:latin typeface="Open Sans"/>
                <a:ea typeface="Open Sans"/>
                <a:cs typeface="Open Sans"/>
                <a:sym typeface="Open Sans"/>
              </a:rPr>
              <a:t>Üyeler</a:t>
            </a:r>
            <a:r>
              <a:rPr lang="en-US" sz="4200" b="1" i="0" u="none" strike="noStrike" cap="none" dirty="0">
                <a:solidFill>
                  <a:srgbClr val="545454"/>
                </a:solidFill>
                <a:latin typeface="Open Sans"/>
                <a:ea typeface="Open Sans"/>
                <a:cs typeface="Open Sans"/>
                <a:sym typeface="Open Sans"/>
              </a:rPr>
              <a:t>:</a:t>
            </a:r>
            <a:r>
              <a:rPr lang="tr-TR" sz="4200" b="1" i="0" u="none" strike="noStrike" cap="none" dirty="0">
                <a:solidFill>
                  <a:srgbClr val="545454"/>
                </a:solidFill>
                <a:latin typeface="Open Sans"/>
                <a:ea typeface="Open Sans"/>
                <a:cs typeface="Open Sans"/>
                <a:sym typeface="Open Sans"/>
              </a:rPr>
              <a:t> Emre Akif Arslan</a:t>
            </a:r>
          </a:p>
          <a:p>
            <a:pPr marL="0" marR="0" lvl="0" indent="0" algn="l" rtl="0">
              <a:lnSpc>
                <a:spcPct val="91000"/>
              </a:lnSpc>
              <a:spcBef>
                <a:spcPts val="0"/>
              </a:spcBef>
              <a:spcAft>
                <a:spcPts val="0"/>
              </a:spcAft>
              <a:buNone/>
            </a:pPr>
            <a:r>
              <a:rPr lang="tr-TR" sz="4200" b="1" dirty="0">
                <a:solidFill>
                  <a:srgbClr val="545454"/>
                </a:solidFill>
                <a:latin typeface="Open Sans"/>
                <a:ea typeface="Open Sans"/>
                <a:cs typeface="Open Sans"/>
                <a:sym typeface="Open Sans"/>
              </a:rPr>
              <a:t>               Ayberk Tanrıverdi</a:t>
            </a:r>
            <a:endParaRPr dirty="0"/>
          </a:p>
        </p:txBody>
      </p:sp>
      <p:sp>
        <p:nvSpPr>
          <p:cNvPr id="94" name="Google Shape;94;p1"/>
          <p:cNvSpPr txBox="1"/>
          <p:nvPr/>
        </p:nvSpPr>
        <p:spPr>
          <a:xfrm>
            <a:off x="11566058" y="4363941"/>
            <a:ext cx="5027990" cy="947952"/>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lang="tr-TR" sz="6000" dirty="0"/>
          </a:p>
        </p:txBody>
      </p:sp>
      <p:sp>
        <p:nvSpPr>
          <p:cNvPr id="95" name="Google Shape;95;p1"/>
          <p:cNvSpPr txBox="1"/>
          <p:nvPr/>
        </p:nvSpPr>
        <p:spPr>
          <a:xfrm>
            <a:off x="1599465" y="8294598"/>
            <a:ext cx="7544536" cy="1176348"/>
          </a:xfrm>
          <a:prstGeom prst="rect">
            <a:avLst/>
          </a:prstGeom>
          <a:noFill/>
          <a:ln>
            <a:noFill/>
          </a:ln>
        </p:spPr>
        <p:txBody>
          <a:bodyPr spcFirstLastPara="1" wrap="square" lIns="0" tIns="0" rIns="0" bIns="0" anchor="t" anchorCtr="0">
            <a:spAutoFit/>
          </a:bodyPr>
          <a:lstStyle/>
          <a:p>
            <a:pPr lvl="0">
              <a:lnSpc>
                <a:spcPct val="91000"/>
              </a:lnSpc>
            </a:pPr>
            <a:r>
              <a:rPr lang="tr-TR" sz="4200" b="1" i="0" u="none" strike="noStrike" cap="none" dirty="0">
                <a:solidFill>
                  <a:srgbClr val="545454"/>
                </a:solidFill>
                <a:latin typeface="Open Sans"/>
                <a:ea typeface="Open Sans"/>
                <a:cs typeface="Open Sans"/>
                <a:sym typeface="Open Sans"/>
              </a:rPr>
              <a:t>Tema</a:t>
            </a:r>
            <a:r>
              <a:rPr lang="en-US" sz="4200" b="1" i="0" u="none" strike="noStrike" cap="none" dirty="0">
                <a:solidFill>
                  <a:srgbClr val="545454"/>
                </a:solidFill>
                <a:latin typeface="Open Sans"/>
                <a:ea typeface="Open Sans"/>
                <a:cs typeface="Open Sans"/>
                <a:sym typeface="Open Sans"/>
              </a:rPr>
              <a:t>:</a:t>
            </a:r>
            <a:r>
              <a:rPr lang="tr-TR" sz="4200" b="1" dirty="0">
                <a:solidFill>
                  <a:srgbClr val="545454"/>
                </a:solidFill>
                <a:latin typeface="Open Sans"/>
                <a:ea typeface="Open Sans"/>
                <a:cs typeface="Open Sans"/>
                <a:sym typeface="Open Sans"/>
              </a:rPr>
              <a:t> Temiz Gezegen, Sağlıklı İnsanlar</a:t>
            </a:r>
            <a:endParaRPr dirty="0"/>
          </a:p>
        </p:txBody>
      </p:sp>
      <p:pic>
        <p:nvPicPr>
          <p:cNvPr id="96" name="Google Shape;96;p1" title="C7 White with Colorful Borders.png"/>
          <p:cNvPicPr preferRelativeResize="0"/>
          <p:nvPr/>
        </p:nvPicPr>
        <p:blipFill>
          <a:blip r:embed="rId3">
            <a:alphaModFix/>
          </a:blip>
          <a:stretch>
            <a:fillRect/>
          </a:stretch>
        </p:blipFill>
        <p:spPr>
          <a:xfrm>
            <a:off x="1570524" y="741775"/>
            <a:ext cx="7864064" cy="2246317"/>
          </a:xfrm>
          <a:prstGeom prst="rect">
            <a:avLst/>
          </a:prstGeom>
          <a:noFill/>
          <a:ln>
            <a:noFill/>
          </a:ln>
        </p:spPr>
      </p:pic>
      <p:pic>
        <p:nvPicPr>
          <p:cNvPr id="3" name="Resim 2" descr="taslak, çizim, diyagram, tasarım içeren bir resim&#10;&#10;Yapay zeka tarafından oluşturulmuş içerik yanlış olabilir.">
            <a:extLst>
              <a:ext uri="{FF2B5EF4-FFF2-40B4-BE49-F238E27FC236}">
                <a16:creationId xmlns:a16="http://schemas.microsoft.com/office/drawing/2014/main" id="{101E6C29-67F6-129B-6D01-C9647B12C296}"/>
              </a:ext>
            </a:extLst>
          </p:cNvPr>
          <p:cNvPicPr>
            <a:picLocks noChangeAspect="1"/>
          </p:cNvPicPr>
          <p:nvPr/>
        </p:nvPicPr>
        <p:blipFill>
          <a:blip r:embed="rId4"/>
          <a:srcRect l="14736" t="28255" r="17236" b="12281"/>
          <a:stretch>
            <a:fillRect/>
          </a:stretch>
        </p:blipFill>
        <p:spPr>
          <a:xfrm>
            <a:off x="10236087" y="453295"/>
            <a:ext cx="7802249" cy="87692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3" name="Resim 2" descr="kişi, şahıs, gökyüzü, dış mekan, giyim içeren bir resim&#10;&#10;Yapay zeka tarafından oluşturulmuş içerik yanlış olabilir.">
            <a:extLst>
              <a:ext uri="{FF2B5EF4-FFF2-40B4-BE49-F238E27FC236}">
                <a16:creationId xmlns:a16="http://schemas.microsoft.com/office/drawing/2014/main" id="{340679E3-A75A-575C-088F-0882CC747832}"/>
              </a:ext>
            </a:extLst>
          </p:cNvPr>
          <p:cNvPicPr>
            <a:picLocks noChangeAspect="1"/>
          </p:cNvPicPr>
          <p:nvPr/>
        </p:nvPicPr>
        <p:blipFill>
          <a:blip r:embed="rId3"/>
          <a:srcRect t="20607"/>
          <a:stretch>
            <a:fillRect/>
          </a:stretch>
        </p:blipFill>
        <p:spPr>
          <a:xfrm>
            <a:off x="10124247" y="1480575"/>
            <a:ext cx="7583792" cy="8045114"/>
          </a:xfrm>
          <a:prstGeom prst="rect">
            <a:avLst/>
          </a:prstGeom>
        </p:spPr>
      </p:pic>
      <p:sp>
        <p:nvSpPr>
          <p:cNvPr id="101" name="Google Shape;101;p2"/>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02" name="Google Shape;102;p2"/>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03" name="Google Shape;103;p2"/>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06" name="Google Shape;106;p2"/>
          <p:cNvSpPr txBox="1"/>
          <p:nvPr/>
        </p:nvSpPr>
        <p:spPr>
          <a:xfrm>
            <a:off x="1677242" y="2631938"/>
            <a:ext cx="6785021" cy="15511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7200" b="1" i="0" u="none" strike="noStrike" cap="none" dirty="0" err="1">
                <a:solidFill>
                  <a:srgbClr val="545454"/>
                </a:solidFill>
                <a:latin typeface="Open Sans"/>
                <a:ea typeface="Open Sans"/>
                <a:cs typeface="Open Sans"/>
                <a:sym typeface="Open Sans"/>
              </a:rPr>
              <a:t>Takım</a:t>
            </a:r>
            <a:r>
              <a:rPr lang="en-US" sz="7200" b="1" i="0" u="none" strike="noStrike" cap="none" dirty="0">
                <a:solidFill>
                  <a:srgbClr val="545454"/>
                </a:solidFill>
                <a:latin typeface="Open Sans"/>
                <a:ea typeface="Open Sans"/>
                <a:cs typeface="Open Sans"/>
                <a:sym typeface="Open Sans"/>
              </a:rPr>
              <a:t> </a:t>
            </a:r>
            <a:r>
              <a:rPr lang="en-US" sz="7200" b="1" i="0" u="none" strike="noStrike" cap="none" dirty="0" err="1">
                <a:solidFill>
                  <a:srgbClr val="545454"/>
                </a:solidFill>
                <a:latin typeface="Open Sans"/>
                <a:ea typeface="Open Sans"/>
                <a:cs typeface="Open Sans"/>
                <a:sym typeface="Open Sans"/>
              </a:rPr>
              <a:t>Üyesi</a:t>
            </a:r>
            <a:endParaRPr dirty="0"/>
          </a:p>
        </p:txBody>
      </p:sp>
      <p:sp>
        <p:nvSpPr>
          <p:cNvPr id="107" name="Google Shape;107;p2"/>
          <p:cNvSpPr txBox="1"/>
          <p:nvPr/>
        </p:nvSpPr>
        <p:spPr>
          <a:xfrm>
            <a:off x="1677242" y="2178555"/>
            <a:ext cx="486345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dirty="0" err="1">
                <a:solidFill>
                  <a:srgbClr val="545454"/>
                </a:solidFill>
                <a:latin typeface="Open Sans SemiBold"/>
                <a:ea typeface="Open Sans SemiBold"/>
                <a:cs typeface="Open Sans SemiBold"/>
                <a:sym typeface="Open Sans SemiBold"/>
              </a:rPr>
              <a:t>Codeavour</a:t>
            </a:r>
            <a:r>
              <a:rPr lang="en-US" sz="2700" b="1" i="0" u="none" strike="noStrike" cap="none" dirty="0">
                <a:solidFill>
                  <a:srgbClr val="545454"/>
                </a:solidFill>
                <a:latin typeface="Open Sans SemiBold"/>
                <a:ea typeface="Open Sans SemiBold"/>
                <a:cs typeface="Open Sans SemiBold"/>
                <a:sym typeface="Open Sans SemiBold"/>
              </a:rPr>
              <a:t> </a:t>
            </a:r>
            <a:r>
              <a:rPr lang="tr-TR" sz="2700" b="1" i="0" u="none" strike="noStrike" cap="none" dirty="0">
                <a:solidFill>
                  <a:srgbClr val="545454"/>
                </a:solidFill>
                <a:latin typeface="Open Sans SemiBold"/>
                <a:ea typeface="Open Sans SemiBold"/>
                <a:cs typeface="Open Sans SemiBold"/>
                <a:sym typeface="Open Sans SemiBold"/>
              </a:rPr>
              <a:t>7</a:t>
            </a:r>
            <a:r>
              <a:rPr lang="en-US" sz="2700" b="1" i="0" u="none" strike="noStrike" cap="none" dirty="0">
                <a:solidFill>
                  <a:srgbClr val="545454"/>
                </a:solidFill>
                <a:latin typeface="Open Sans SemiBold"/>
                <a:ea typeface="Open Sans SemiBold"/>
                <a:cs typeface="Open Sans SemiBold"/>
                <a:sym typeface="Open Sans SemiBold"/>
              </a:rPr>
              <a:t>.0 International</a:t>
            </a:r>
            <a:endParaRPr dirty="0"/>
          </a:p>
        </p:txBody>
      </p:sp>
      <p:sp>
        <p:nvSpPr>
          <p:cNvPr id="108" name="Google Shape;108;p2"/>
          <p:cNvSpPr txBox="1"/>
          <p:nvPr/>
        </p:nvSpPr>
        <p:spPr>
          <a:xfrm>
            <a:off x="1435469" y="4636515"/>
            <a:ext cx="7708531" cy="41365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tr-TR" sz="3200" b="1" i="0" u="none" strike="noStrike" cap="none" dirty="0">
                <a:solidFill>
                  <a:srgbClr val="545454"/>
                </a:solidFill>
                <a:latin typeface="Open Sans SemiBold"/>
                <a:ea typeface="Open Sans SemiBold"/>
                <a:cs typeface="Open Sans SemiBold"/>
                <a:sym typeface="Open Sans SemiBold"/>
              </a:rPr>
              <a:t>Takım Üyeleri:</a:t>
            </a:r>
          </a:p>
          <a:p>
            <a:pPr marL="342900" marR="0" lvl="0" indent="-342900" algn="l" rtl="0">
              <a:lnSpc>
                <a:spcPct val="140016"/>
              </a:lnSpc>
              <a:spcBef>
                <a:spcPts val="0"/>
              </a:spcBef>
              <a:spcAft>
                <a:spcPts val="0"/>
              </a:spcAft>
              <a:buFont typeface="Arial" panose="020B0604020202020204" pitchFamily="34" charset="0"/>
              <a:buChar char="•"/>
            </a:pPr>
            <a:r>
              <a:rPr lang="tr-TR" sz="3200" b="1" dirty="0">
                <a:solidFill>
                  <a:srgbClr val="545454"/>
                </a:solidFill>
                <a:latin typeface="Open Sans SemiBold"/>
                <a:ea typeface="Open Sans SemiBold"/>
                <a:cs typeface="Open Sans SemiBold"/>
                <a:sym typeface="Open Sans SemiBold"/>
              </a:rPr>
              <a:t>Emre Akif Arslan</a:t>
            </a:r>
          </a:p>
          <a:p>
            <a:pPr marL="342900" marR="0" lvl="0" indent="-342900" algn="l" rtl="0">
              <a:lnSpc>
                <a:spcPct val="140016"/>
              </a:lnSpc>
              <a:spcBef>
                <a:spcPts val="0"/>
              </a:spcBef>
              <a:spcAft>
                <a:spcPts val="0"/>
              </a:spcAft>
              <a:buFont typeface="Arial" panose="020B0604020202020204" pitchFamily="34" charset="0"/>
              <a:buChar char="•"/>
            </a:pPr>
            <a:r>
              <a:rPr lang="tr-TR" sz="3200" b="1" dirty="0">
                <a:solidFill>
                  <a:srgbClr val="545454"/>
                </a:solidFill>
                <a:latin typeface="Open Sans SemiBold"/>
                <a:ea typeface="Open Sans SemiBold"/>
                <a:cs typeface="Open Sans SemiBold"/>
                <a:sym typeface="Open Sans SemiBold"/>
              </a:rPr>
              <a:t>Ayberk Tanrıverdi</a:t>
            </a:r>
          </a:p>
          <a:p>
            <a:pPr marL="342900" marR="0" lvl="0" indent="-342900" algn="l" rtl="0">
              <a:lnSpc>
                <a:spcPct val="140016"/>
              </a:lnSpc>
              <a:spcBef>
                <a:spcPts val="0"/>
              </a:spcBef>
              <a:spcAft>
                <a:spcPts val="0"/>
              </a:spcAft>
              <a:buFont typeface="Arial" panose="020B0604020202020204" pitchFamily="34" charset="0"/>
              <a:buChar char="•"/>
            </a:pPr>
            <a:endParaRPr lang="tr-TR" sz="3200" b="1" dirty="0">
              <a:solidFill>
                <a:srgbClr val="545454"/>
              </a:solidFill>
              <a:latin typeface="Open Sans SemiBold"/>
              <a:ea typeface="Open Sans SemiBold"/>
              <a:cs typeface="Open Sans SemiBold"/>
              <a:sym typeface="Open Sans SemiBold"/>
            </a:endParaRPr>
          </a:p>
          <a:p>
            <a:pPr marR="0" lvl="0" algn="l" rtl="0">
              <a:lnSpc>
                <a:spcPct val="140016"/>
              </a:lnSpc>
              <a:spcBef>
                <a:spcPts val="0"/>
              </a:spcBef>
              <a:spcAft>
                <a:spcPts val="0"/>
              </a:spcAft>
            </a:pPr>
            <a:r>
              <a:rPr lang="tr-TR" sz="3200" b="1" dirty="0" err="1">
                <a:solidFill>
                  <a:srgbClr val="545454"/>
                </a:solidFill>
                <a:latin typeface="Open Sans SemiBold"/>
                <a:ea typeface="Open Sans SemiBold"/>
                <a:cs typeface="Open Sans SemiBold"/>
                <a:sym typeface="Open Sans SemiBold"/>
              </a:rPr>
              <a:t>Mentörler</a:t>
            </a:r>
            <a:endParaRPr lang="tr-TR" sz="3200" b="1" dirty="0">
              <a:solidFill>
                <a:srgbClr val="545454"/>
              </a:solidFill>
              <a:latin typeface="Open Sans SemiBold"/>
              <a:ea typeface="Open Sans SemiBold"/>
              <a:cs typeface="Open Sans SemiBold"/>
              <a:sym typeface="Open Sans SemiBold"/>
            </a:endParaRPr>
          </a:p>
          <a:p>
            <a:pPr marL="342900" marR="0" lvl="0" indent="-342900" algn="l" rtl="0">
              <a:lnSpc>
                <a:spcPct val="140016"/>
              </a:lnSpc>
              <a:spcBef>
                <a:spcPts val="0"/>
              </a:spcBef>
              <a:spcAft>
                <a:spcPts val="0"/>
              </a:spcAft>
              <a:buFont typeface="Arial" panose="020B0604020202020204" pitchFamily="34" charset="0"/>
              <a:buChar char="•"/>
            </a:pPr>
            <a:r>
              <a:rPr lang="tr-TR" sz="3200" b="1" dirty="0">
                <a:solidFill>
                  <a:srgbClr val="545454"/>
                </a:solidFill>
                <a:latin typeface="Open Sans SemiBold"/>
                <a:ea typeface="Open Sans SemiBold"/>
                <a:cs typeface="Open Sans SemiBold"/>
                <a:sym typeface="Open Sans SemiBold"/>
              </a:rPr>
              <a:t>İsmail Hakkı Ergüven</a:t>
            </a:r>
            <a:endParaRPr sz="3200" dirty="0"/>
          </a:p>
        </p:txBody>
      </p:sp>
      <p:pic>
        <p:nvPicPr>
          <p:cNvPr id="109" name="Google Shape;109;p2" title="C7 White with Colorful Borders.png"/>
          <p:cNvPicPr preferRelativeResize="0"/>
          <p:nvPr/>
        </p:nvPicPr>
        <p:blipFill rotWithShape="1">
          <a:blip r:embed="rId4">
            <a:alphaModFix/>
          </a:blip>
          <a:srcRect t="9263" b="41223"/>
          <a:stretch/>
        </p:blipFill>
        <p:spPr>
          <a:xfrm>
            <a:off x="13042648" y="9291170"/>
            <a:ext cx="4321654" cy="611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15" name="Google Shape;115;p3"/>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16" name="Google Shape;116;p3"/>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grpSp>
        <p:nvGrpSpPr>
          <p:cNvPr id="117" name="Google Shape;117;p3"/>
          <p:cNvGrpSpPr/>
          <p:nvPr/>
        </p:nvGrpSpPr>
        <p:grpSpPr>
          <a:xfrm>
            <a:off x="9872106" y="-108496"/>
            <a:ext cx="8415894" cy="5251996"/>
            <a:chOff x="0" y="-28575"/>
            <a:chExt cx="2216532" cy="1383242"/>
          </a:xfrm>
        </p:grpSpPr>
        <p:sp>
          <p:nvSpPr>
            <p:cNvPr id="118" name="Google Shape;118;p3"/>
            <p:cNvSpPr/>
            <p:nvPr/>
          </p:nvSpPr>
          <p:spPr>
            <a:xfrm>
              <a:off x="0" y="0"/>
              <a:ext cx="2216532" cy="1354667"/>
            </a:xfrm>
            <a:custGeom>
              <a:avLst/>
              <a:gdLst/>
              <a:ahLst/>
              <a:cxnLst/>
              <a:rect l="l" t="t" r="r" b="b"/>
              <a:pathLst>
                <a:path w="2216532" h="1354667" extrusionOk="0">
                  <a:moveTo>
                    <a:pt x="0" y="0"/>
                  </a:moveTo>
                  <a:lnTo>
                    <a:pt x="2216532" y="0"/>
                  </a:lnTo>
                  <a:lnTo>
                    <a:pt x="2216532" y="1354667"/>
                  </a:lnTo>
                  <a:lnTo>
                    <a:pt x="0" y="1354667"/>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19" name="Google Shape;119;p3"/>
            <p:cNvSpPr txBox="1"/>
            <p:nvPr/>
          </p:nvSpPr>
          <p:spPr>
            <a:xfrm>
              <a:off x="0" y="-28575"/>
              <a:ext cx="2216532" cy="1383242"/>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3"/>
          <p:cNvGrpSpPr/>
          <p:nvPr/>
        </p:nvGrpSpPr>
        <p:grpSpPr>
          <a:xfrm>
            <a:off x="9872106" y="5258432"/>
            <a:ext cx="4207947" cy="3999868"/>
            <a:chOff x="0" y="-28575"/>
            <a:chExt cx="1108266" cy="1053463"/>
          </a:xfrm>
        </p:grpSpPr>
        <p:sp>
          <p:nvSpPr>
            <p:cNvPr id="121" name="Google Shape;121;p3"/>
            <p:cNvSpPr/>
            <p:nvPr/>
          </p:nvSpPr>
          <p:spPr>
            <a:xfrm>
              <a:off x="0" y="0"/>
              <a:ext cx="1108266" cy="1024888"/>
            </a:xfrm>
            <a:custGeom>
              <a:avLst/>
              <a:gdLst/>
              <a:ahLst/>
              <a:cxnLst/>
              <a:rect l="l" t="t" r="r" b="b"/>
              <a:pathLst>
                <a:path w="1108266" h="1024888" extrusionOk="0">
                  <a:moveTo>
                    <a:pt x="0" y="0"/>
                  </a:moveTo>
                  <a:lnTo>
                    <a:pt x="1108266" y="0"/>
                  </a:lnTo>
                  <a:lnTo>
                    <a:pt x="1108266" y="1024888"/>
                  </a:lnTo>
                  <a:lnTo>
                    <a:pt x="0" y="1024888"/>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22" name="Google Shape;122;p3"/>
            <p:cNvSpPr txBox="1"/>
            <p:nvPr/>
          </p:nvSpPr>
          <p:spPr>
            <a:xfrm>
              <a:off x="0" y="-28575"/>
              <a:ext cx="1108266" cy="105346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3"/>
          <p:cNvGrpSpPr/>
          <p:nvPr/>
        </p:nvGrpSpPr>
        <p:grpSpPr>
          <a:xfrm>
            <a:off x="14330885" y="5258432"/>
            <a:ext cx="3957115" cy="3999868"/>
            <a:chOff x="0" y="-28575"/>
            <a:chExt cx="1042203" cy="1053463"/>
          </a:xfrm>
        </p:grpSpPr>
        <p:sp>
          <p:nvSpPr>
            <p:cNvPr id="124" name="Google Shape;124;p3"/>
            <p:cNvSpPr/>
            <p:nvPr/>
          </p:nvSpPr>
          <p:spPr>
            <a:xfrm>
              <a:off x="0" y="0"/>
              <a:ext cx="1042203" cy="1024888"/>
            </a:xfrm>
            <a:custGeom>
              <a:avLst/>
              <a:gdLst/>
              <a:ahLst/>
              <a:cxnLst/>
              <a:rect l="l" t="t" r="r" b="b"/>
              <a:pathLst>
                <a:path w="1042203" h="1024888" extrusionOk="0">
                  <a:moveTo>
                    <a:pt x="0" y="0"/>
                  </a:moveTo>
                  <a:lnTo>
                    <a:pt x="1042203" y="0"/>
                  </a:lnTo>
                  <a:lnTo>
                    <a:pt x="1042203" y="1024888"/>
                  </a:lnTo>
                  <a:lnTo>
                    <a:pt x="0" y="1024888"/>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25" name="Google Shape;125;p3"/>
            <p:cNvSpPr txBox="1"/>
            <p:nvPr/>
          </p:nvSpPr>
          <p:spPr>
            <a:xfrm>
              <a:off x="0" y="-28575"/>
              <a:ext cx="1042203" cy="105346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6" name="Google Shape;126;p3"/>
          <p:cNvSpPr txBox="1"/>
          <p:nvPr/>
        </p:nvSpPr>
        <p:spPr>
          <a:xfrm>
            <a:off x="917698" y="3514906"/>
            <a:ext cx="8913637" cy="15511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tr-TR" sz="7200" b="1" i="0" u="none" strike="noStrike" cap="none" dirty="0" err="1">
                <a:solidFill>
                  <a:srgbClr val="545454"/>
                </a:solidFill>
                <a:latin typeface="Open Sans"/>
                <a:ea typeface="Open Sans"/>
                <a:cs typeface="Open Sans"/>
                <a:sym typeface="Open Sans"/>
              </a:rPr>
              <a:t>WildLife</a:t>
            </a:r>
            <a:r>
              <a:rPr lang="tr-TR" sz="7200" b="1" i="0" u="none" strike="noStrike" cap="none" dirty="0">
                <a:solidFill>
                  <a:srgbClr val="545454"/>
                </a:solidFill>
                <a:latin typeface="Open Sans"/>
                <a:ea typeface="Open Sans"/>
                <a:cs typeface="Open Sans"/>
                <a:sym typeface="Open Sans"/>
              </a:rPr>
              <a:t> </a:t>
            </a:r>
            <a:r>
              <a:rPr lang="tr-TR" sz="7200" b="1" i="0" u="none" strike="noStrike" cap="none" dirty="0" err="1">
                <a:solidFill>
                  <a:srgbClr val="545454"/>
                </a:solidFill>
                <a:latin typeface="Open Sans"/>
                <a:ea typeface="Open Sans"/>
                <a:cs typeface="Open Sans"/>
                <a:sym typeface="Open Sans"/>
              </a:rPr>
              <a:t>Echo</a:t>
            </a:r>
            <a:endParaRPr dirty="0"/>
          </a:p>
        </p:txBody>
      </p:sp>
      <p:sp>
        <p:nvSpPr>
          <p:cNvPr id="127" name="Google Shape;127;p3"/>
          <p:cNvSpPr txBox="1"/>
          <p:nvPr/>
        </p:nvSpPr>
        <p:spPr>
          <a:xfrm>
            <a:off x="11566058" y="2033270"/>
            <a:ext cx="5027990" cy="9626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lang="tr-TR" sz="6000" dirty="0"/>
          </a:p>
        </p:txBody>
      </p:sp>
      <p:sp>
        <p:nvSpPr>
          <p:cNvPr id="128" name="Google Shape;128;p3"/>
          <p:cNvSpPr txBox="1"/>
          <p:nvPr/>
        </p:nvSpPr>
        <p:spPr>
          <a:xfrm>
            <a:off x="10353788" y="6543629"/>
            <a:ext cx="2930889" cy="1895904"/>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dirty="0"/>
          </a:p>
        </p:txBody>
      </p:sp>
      <p:sp>
        <p:nvSpPr>
          <p:cNvPr id="129" name="Google Shape;129;p3"/>
          <p:cNvSpPr txBox="1"/>
          <p:nvPr/>
        </p:nvSpPr>
        <p:spPr>
          <a:xfrm>
            <a:off x="14843998" y="6541362"/>
            <a:ext cx="2930889" cy="1895904"/>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lang="tr-TR" sz="6000" dirty="0"/>
          </a:p>
        </p:txBody>
      </p:sp>
      <p:sp>
        <p:nvSpPr>
          <p:cNvPr id="130" name="Google Shape;130;p3"/>
          <p:cNvSpPr txBox="1"/>
          <p:nvPr/>
        </p:nvSpPr>
        <p:spPr>
          <a:xfrm>
            <a:off x="961883" y="2705081"/>
            <a:ext cx="5576998" cy="581698"/>
          </a:xfrm>
          <a:prstGeom prst="rect">
            <a:avLst/>
          </a:prstGeom>
          <a:noFill/>
          <a:ln>
            <a:noFill/>
          </a:ln>
        </p:spPr>
        <p:txBody>
          <a:bodyPr spcFirstLastPara="1" wrap="square" lIns="0" tIns="0" rIns="0" bIns="0" anchor="t" anchorCtr="0">
            <a:spAutoFit/>
          </a:bodyPr>
          <a:lstStyle/>
          <a:p>
            <a:pPr lvl="0">
              <a:lnSpc>
                <a:spcPct val="139962"/>
              </a:lnSpc>
            </a:pPr>
            <a:r>
              <a:rPr lang="en-US" sz="2700" b="1" dirty="0">
                <a:solidFill>
                  <a:srgbClr val="545454"/>
                </a:solidFill>
                <a:latin typeface="Open Sans SemiBold"/>
                <a:ea typeface="Open Sans SemiBold"/>
                <a:cs typeface="Open Sans SemiBold"/>
                <a:sym typeface="Open Sans SemiBold"/>
              </a:rPr>
              <a:t>Temiz </a:t>
            </a:r>
            <a:r>
              <a:rPr lang="en-US" sz="2700" b="1" dirty="0" err="1">
                <a:solidFill>
                  <a:srgbClr val="545454"/>
                </a:solidFill>
                <a:latin typeface="Open Sans SemiBold"/>
                <a:ea typeface="Open Sans SemiBold"/>
                <a:cs typeface="Open Sans SemiBold"/>
                <a:sym typeface="Open Sans SemiBold"/>
              </a:rPr>
              <a:t>Gezegen</a:t>
            </a:r>
            <a:r>
              <a:rPr lang="en-US" sz="2700" b="1" dirty="0">
                <a:solidFill>
                  <a:srgbClr val="545454"/>
                </a:solidFill>
                <a:latin typeface="Open Sans SemiBold"/>
                <a:ea typeface="Open Sans SemiBold"/>
                <a:cs typeface="Open Sans SemiBold"/>
                <a:sym typeface="Open Sans SemiBold"/>
              </a:rPr>
              <a:t>, </a:t>
            </a:r>
            <a:r>
              <a:rPr lang="en-US" sz="2700" b="1" dirty="0" err="1">
                <a:solidFill>
                  <a:srgbClr val="545454"/>
                </a:solidFill>
                <a:latin typeface="Open Sans SemiBold"/>
                <a:ea typeface="Open Sans SemiBold"/>
                <a:cs typeface="Open Sans SemiBold"/>
                <a:sym typeface="Open Sans SemiBold"/>
              </a:rPr>
              <a:t>Sağlıklı</a:t>
            </a:r>
            <a:r>
              <a:rPr lang="en-US" sz="2700" b="1" dirty="0">
                <a:solidFill>
                  <a:srgbClr val="545454"/>
                </a:solidFill>
                <a:latin typeface="Open Sans SemiBold"/>
                <a:ea typeface="Open Sans SemiBold"/>
                <a:cs typeface="Open Sans SemiBold"/>
                <a:sym typeface="Open Sans SemiBold"/>
              </a:rPr>
              <a:t> </a:t>
            </a:r>
            <a:r>
              <a:rPr lang="en-US" sz="2700" b="1" dirty="0" err="1">
                <a:solidFill>
                  <a:srgbClr val="545454"/>
                </a:solidFill>
                <a:latin typeface="Open Sans SemiBold"/>
                <a:ea typeface="Open Sans SemiBold"/>
                <a:cs typeface="Open Sans SemiBold"/>
                <a:sym typeface="Open Sans SemiBold"/>
              </a:rPr>
              <a:t>İnsanlar</a:t>
            </a:r>
            <a:endParaRPr dirty="0"/>
          </a:p>
        </p:txBody>
      </p:sp>
      <p:sp>
        <p:nvSpPr>
          <p:cNvPr id="131" name="Google Shape;131;p3"/>
          <p:cNvSpPr txBox="1"/>
          <p:nvPr/>
        </p:nvSpPr>
        <p:spPr>
          <a:xfrm>
            <a:off x="1127760" y="5328828"/>
            <a:ext cx="8493514" cy="3101618"/>
          </a:xfrm>
          <a:prstGeom prst="rect">
            <a:avLst/>
          </a:prstGeom>
          <a:noFill/>
          <a:ln>
            <a:noFill/>
          </a:ln>
        </p:spPr>
        <p:txBody>
          <a:bodyPr spcFirstLastPara="1" wrap="square" lIns="0" tIns="0" rIns="0" bIns="0" anchor="t" anchorCtr="0">
            <a:spAutoFit/>
          </a:bodyPr>
          <a:lstStyle/>
          <a:p>
            <a:pPr lvl="0">
              <a:lnSpc>
                <a:spcPct val="140016"/>
              </a:lnSpc>
            </a:pPr>
            <a:r>
              <a:rPr lang="en-US" sz="2399" b="1" i="0" u="none" strike="noStrike" cap="none" dirty="0">
                <a:solidFill>
                  <a:srgbClr val="545454"/>
                </a:solidFill>
                <a:latin typeface="Open Sans SemiBold"/>
                <a:ea typeface="Open Sans SemiBold"/>
                <a:cs typeface="Open Sans SemiBold"/>
                <a:sym typeface="Open Sans SemiBold"/>
              </a:rPr>
              <a:t>• </a:t>
            </a:r>
            <a:r>
              <a:rPr lang="tr-TR" sz="2399" b="1" i="0" u="none" strike="noStrike" cap="none" dirty="0">
                <a:solidFill>
                  <a:srgbClr val="545454"/>
                </a:solidFill>
                <a:latin typeface="Open Sans SemiBold"/>
                <a:ea typeface="Open Sans SemiBold"/>
                <a:cs typeface="Open Sans SemiBold"/>
                <a:sym typeface="Open Sans SemiBold"/>
              </a:rPr>
              <a:t>Yangın tespit edildiğinde görsel ve işitsel yollar ile yaban hayvanlarını yangından uzağa yönlendiren sistem.</a:t>
            </a:r>
          </a:p>
          <a:p>
            <a:pPr lvl="0">
              <a:lnSpc>
                <a:spcPct val="140016"/>
              </a:lnSpc>
            </a:pPr>
            <a:endParaRPr lang="en-US" sz="2399" b="1" i="0" u="none" strike="noStrike" cap="none" dirty="0">
              <a:solidFill>
                <a:srgbClr val="545454"/>
              </a:solidFill>
              <a:latin typeface="Open Sans SemiBold"/>
              <a:ea typeface="Open Sans SemiBold"/>
              <a:cs typeface="Open Sans SemiBold"/>
              <a:sym typeface="Open Sans SemiBold"/>
            </a:endParaRPr>
          </a:p>
          <a:p>
            <a:pPr marL="0" marR="0" lvl="0" indent="0" algn="l" rtl="0">
              <a:lnSpc>
                <a:spcPct val="140016"/>
              </a:lnSpc>
              <a:spcBef>
                <a:spcPts val="0"/>
              </a:spcBef>
              <a:spcAft>
                <a:spcPts val="0"/>
              </a:spcAft>
              <a:buNone/>
            </a:pPr>
            <a:r>
              <a:rPr lang="en-US" sz="2399" b="1" i="0" u="none" strike="noStrike" cap="none" dirty="0">
                <a:solidFill>
                  <a:srgbClr val="545454"/>
                </a:solidFill>
                <a:latin typeface="Open Sans SemiBold"/>
                <a:ea typeface="Open Sans SemiBold"/>
                <a:cs typeface="Open Sans SemiBold"/>
                <a:sym typeface="Open Sans SemiBold"/>
              </a:rPr>
              <a:t>• </a:t>
            </a:r>
            <a:r>
              <a:rPr lang="en-US" sz="2399" b="1" i="0" u="none" strike="noStrike" cap="none" dirty="0" err="1">
                <a:solidFill>
                  <a:srgbClr val="545454"/>
                </a:solidFill>
                <a:latin typeface="Open Sans SemiBold"/>
                <a:ea typeface="Open Sans SemiBold"/>
                <a:cs typeface="Open Sans SemiBold"/>
                <a:sym typeface="Open Sans SemiBold"/>
              </a:rPr>
              <a:t>Projenizin</a:t>
            </a:r>
            <a:r>
              <a:rPr lang="en-US" sz="2399" b="1" i="0" u="none" strike="noStrike" cap="none" dirty="0">
                <a:solidFill>
                  <a:srgbClr val="545454"/>
                </a:solidFill>
                <a:latin typeface="Open Sans SemiBold"/>
                <a:ea typeface="Open Sans SemiBold"/>
                <a:cs typeface="Open Sans SemiBold"/>
                <a:sym typeface="Open Sans SemiBold"/>
              </a:rPr>
              <a:t> video </a:t>
            </a:r>
            <a:r>
              <a:rPr lang="en-US" sz="2399" b="1" i="0" u="none" strike="noStrike" cap="none" dirty="0" err="1">
                <a:solidFill>
                  <a:srgbClr val="545454"/>
                </a:solidFill>
                <a:latin typeface="Open Sans SemiBold"/>
                <a:ea typeface="Open Sans SemiBold"/>
                <a:cs typeface="Open Sans SemiBold"/>
                <a:sym typeface="Open Sans SemiBold"/>
              </a:rPr>
              <a:t>kullanın</a:t>
            </a:r>
            <a:endParaRPr lang="en-US" sz="2399" b="1" i="0" u="none" strike="noStrike" cap="none" dirty="0">
              <a:solidFill>
                <a:srgbClr val="545454"/>
              </a:solidFill>
              <a:latin typeface="Open Sans SemiBold"/>
              <a:ea typeface="Open Sans SemiBold"/>
              <a:cs typeface="Open Sans SemiBold"/>
              <a:sym typeface="Open Sans SemiBold"/>
            </a:endParaRPr>
          </a:p>
          <a:p>
            <a:pPr lvl="0">
              <a:lnSpc>
                <a:spcPct val="140016"/>
              </a:lnSpc>
            </a:pPr>
            <a:r>
              <a:rPr lang="en-US" sz="2399" b="1" i="0" u="none" strike="noStrike" cap="none" dirty="0">
                <a:solidFill>
                  <a:srgbClr val="545454"/>
                </a:solidFill>
                <a:latin typeface="Open Sans SemiBold"/>
                <a:ea typeface="Open Sans SemiBold"/>
                <a:cs typeface="Open Sans SemiBold"/>
                <a:sym typeface="Open Sans SemiBold"/>
              </a:rPr>
              <a:t>• </a:t>
            </a:r>
            <a:r>
              <a:rPr lang="tr-TR" sz="2400" b="1" i="0" u="none" strike="noStrike" cap="none"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sym typeface="Open Sans SemiBold"/>
              </a:rPr>
              <a:t>Donanım</a:t>
            </a: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tr-TR" sz="2400" b="1"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ESP32</a:t>
            </a: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 tabanlı, </a:t>
            </a:r>
            <a:r>
              <a:rPr lang="tr-TR" sz="2400" b="1" dirty="0" err="1">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LoRa</a:t>
            </a: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 teknolojisiyle uzun mesafeli haberleşme temeline kuruludur.</a:t>
            </a:r>
            <a:endParaRPr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32" name="Google Shape;132;p3" title="C7 White with Colorful Borders.png"/>
          <p:cNvPicPr preferRelativeResize="0"/>
          <p:nvPr/>
        </p:nvPicPr>
        <p:blipFill rotWithShape="1">
          <a:blip r:embed="rId3">
            <a:alphaModFix/>
          </a:blip>
          <a:srcRect t="9263" b="41223"/>
          <a:stretch/>
        </p:blipFill>
        <p:spPr>
          <a:xfrm>
            <a:off x="13042648" y="9291170"/>
            <a:ext cx="4321654" cy="611174"/>
          </a:xfrm>
          <a:prstGeom prst="rect">
            <a:avLst/>
          </a:prstGeom>
          <a:noFill/>
          <a:ln>
            <a:noFill/>
          </a:ln>
        </p:spPr>
      </p:pic>
      <p:pic>
        <p:nvPicPr>
          <p:cNvPr id="3" name="Resim 2" descr="metin, ekran görüntüsü, multimedya yazılımı, yazılım içeren bir resim&#10;&#10;Yapay zeka tarafından oluşturulmuş içerik yanlış olabilir.">
            <a:extLst>
              <a:ext uri="{FF2B5EF4-FFF2-40B4-BE49-F238E27FC236}">
                <a16:creationId xmlns:a16="http://schemas.microsoft.com/office/drawing/2014/main" id="{FCBD4C47-2023-8398-1F62-1472F7E1D027}"/>
              </a:ext>
            </a:extLst>
          </p:cNvPr>
          <p:cNvPicPr>
            <a:picLocks noChangeAspect="1"/>
          </p:cNvPicPr>
          <p:nvPr/>
        </p:nvPicPr>
        <p:blipFill>
          <a:blip r:embed="rId4"/>
          <a:stretch>
            <a:fillRect/>
          </a:stretch>
        </p:blipFill>
        <p:spPr>
          <a:xfrm>
            <a:off x="9872106" y="152401"/>
            <a:ext cx="8476280" cy="50221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38" name="Google Shape;138;p4"/>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39" name="Google Shape;139;p4"/>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40" name="Google Shape;140;p4"/>
          <p:cNvSpPr/>
          <p:nvPr/>
        </p:nvSpPr>
        <p:spPr>
          <a:xfrm>
            <a:off x="11829830" y="2267870"/>
            <a:ext cx="4437598" cy="5521117"/>
          </a:xfrm>
          <a:custGeom>
            <a:avLst/>
            <a:gdLst/>
            <a:ahLst/>
            <a:cxnLst/>
            <a:rect l="l" t="t" r="r" b="b"/>
            <a:pathLst>
              <a:path w="4437598" h="5521117" extrusionOk="0">
                <a:moveTo>
                  <a:pt x="0" y="0"/>
                </a:moveTo>
                <a:lnTo>
                  <a:pt x="4437598" y="0"/>
                </a:lnTo>
                <a:lnTo>
                  <a:pt x="4437598" y="5521117"/>
                </a:lnTo>
                <a:lnTo>
                  <a:pt x="0" y="5521117"/>
                </a:lnTo>
                <a:lnTo>
                  <a:pt x="0" y="0"/>
                </a:lnTo>
                <a:close/>
              </a:path>
            </a:pathLst>
          </a:custGeom>
          <a:blipFill rotWithShape="1">
            <a:blip r:embed="rId3">
              <a:alphaModFix/>
            </a:blip>
            <a:stretch>
              <a:fillRect/>
            </a:stretch>
          </a:blipFill>
          <a:ln>
            <a:noFill/>
          </a:ln>
        </p:spPr>
        <p:txBody>
          <a:bodyPr/>
          <a:lstStyle/>
          <a:p>
            <a:endParaRPr lang="tr-TR"/>
          </a:p>
        </p:txBody>
      </p:sp>
      <p:sp>
        <p:nvSpPr>
          <p:cNvPr id="141" name="Google Shape;141;p4"/>
          <p:cNvSpPr txBox="1"/>
          <p:nvPr/>
        </p:nvSpPr>
        <p:spPr>
          <a:xfrm>
            <a:off x="1677242" y="2811701"/>
            <a:ext cx="4018863" cy="9639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200" b="1" i="0" u="none" strike="noStrike" cap="none">
                <a:solidFill>
                  <a:srgbClr val="545454"/>
                </a:solidFill>
                <a:latin typeface="Open Sans"/>
                <a:ea typeface="Open Sans"/>
                <a:cs typeface="Open Sans"/>
                <a:sym typeface="Open Sans"/>
              </a:rPr>
              <a:t>Problem </a:t>
            </a:r>
            <a:endParaRPr/>
          </a:p>
        </p:txBody>
      </p:sp>
      <p:sp>
        <p:nvSpPr>
          <p:cNvPr id="142" name="Google Shape;142;p4"/>
          <p:cNvSpPr txBox="1"/>
          <p:nvPr/>
        </p:nvSpPr>
        <p:spPr>
          <a:xfrm>
            <a:off x="1677242" y="4328160"/>
            <a:ext cx="9447958" cy="3619452"/>
          </a:xfrm>
          <a:prstGeom prst="rect">
            <a:avLst/>
          </a:prstGeom>
          <a:noFill/>
          <a:ln>
            <a:noFill/>
          </a:ln>
        </p:spPr>
        <p:txBody>
          <a:bodyPr spcFirstLastPara="1" wrap="square" lIns="0" tIns="0" rIns="0" bIns="0" anchor="t" anchorCtr="0">
            <a:spAutoFit/>
          </a:bodyPr>
          <a:lstStyle/>
          <a:p>
            <a:pPr lvl="0" algn="just">
              <a:lnSpc>
                <a:spcPct val="140016"/>
              </a:lnSpc>
            </a:pP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Orman yangınlarında yaban hayvanları, yoğun duman ve ısı nedeniyle yön duygularını yitirerek güvenli alanlar yerine yangının merkezine (ateş hattına) doğru kaçabilmektedir. Yangının yayılma yönünü ve hızını doğru analiz edemeyen canlılar, güvenli bir tahliye rotası bulamadıkları için termal tuzaklar içinde mahsur kalarak yüksek hayati riskle karşı karşıya kalmaktadır.</a:t>
            </a:r>
            <a:endParaRPr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43" name="Google Shape;143;p4" title="C7 White with Colorful Borders.png"/>
          <p:cNvPicPr preferRelativeResize="0"/>
          <p:nvPr/>
        </p:nvPicPr>
        <p:blipFill rotWithShape="1">
          <a:blip r:embed="rId4">
            <a:alphaModFix/>
          </a:blip>
          <a:srcRect t="9263" b="41223"/>
          <a:stretch/>
        </p:blipFill>
        <p:spPr>
          <a:xfrm>
            <a:off x="13042648" y="9291170"/>
            <a:ext cx="4321654" cy="611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5"/>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49" name="Google Shape;149;p5"/>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50" name="Google Shape;150;p5"/>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51" name="Google Shape;151;p5"/>
          <p:cNvSpPr/>
          <p:nvPr/>
        </p:nvSpPr>
        <p:spPr>
          <a:xfrm>
            <a:off x="12218197" y="3086100"/>
            <a:ext cx="5041103" cy="4114800"/>
          </a:xfrm>
          <a:custGeom>
            <a:avLst/>
            <a:gdLst/>
            <a:ahLst/>
            <a:cxnLst/>
            <a:rect l="l" t="t" r="r" b="b"/>
            <a:pathLst>
              <a:path w="5041103" h="4114800" extrusionOk="0">
                <a:moveTo>
                  <a:pt x="0" y="0"/>
                </a:moveTo>
                <a:lnTo>
                  <a:pt x="5041103" y="0"/>
                </a:lnTo>
                <a:lnTo>
                  <a:pt x="5041103" y="4114800"/>
                </a:lnTo>
                <a:lnTo>
                  <a:pt x="0" y="4114800"/>
                </a:lnTo>
                <a:lnTo>
                  <a:pt x="0" y="0"/>
                </a:lnTo>
                <a:close/>
              </a:path>
            </a:pathLst>
          </a:custGeom>
          <a:blipFill rotWithShape="1">
            <a:blip r:embed="rId3">
              <a:alphaModFix/>
            </a:blip>
            <a:stretch>
              <a:fillRect/>
            </a:stretch>
          </a:blipFill>
          <a:ln>
            <a:noFill/>
          </a:ln>
        </p:spPr>
        <p:txBody>
          <a:bodyPr/>
          <a:lstStyle/>
          <a:p>
            <a:endParaRPr lang="tr-TR"/>
          </a:p>
        </p:txBody>
      </p:sp>
      <p:sp>
        <p:nvSpPr>
          <p:cNvPr id="152" name="Google Shape;152;p5"/>
          <p:cNvSpPr txBox="1"/>
          <p:nvPr/>
        </p:nvSpPr>
        <p:spPr>
          <a:xfrm>
            <a:off x="1677242" y="2631938"/>
            <a:ext cx="3875566" cy="15511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7200" b="1" i="0" u="none" strike="noStrike" cap="none" dirty="0" err="1">
                <a:solidFill>
                  <a:srgbClr val="545454"/>
                </a:solidFill>
                <a:latin typeface="Open Sans"/>
                <a:ea typeface="Open Sans"/>
                <a:cs typeface="Open Sans"/>
                <a:sym typeface="Open Sans"/>
              </a:rPr>
              <a:t>Çözüm</a:t>
            </a:r>
            <a:endParaRPr dirty="0"/>
          </a:p>
        </p:txBody>
      </p:sp>
      <p:sp>
        <p:nvSpPr>
          <p:cNvPr id="153" name="Google Shape;153;p5"/>
          <p:cNvSpPr txBox="1"/>
          <p:nvPr/>
        </p:nvSpPr>
        <p:spPr>
          <a:xfrm>
            <a:off x="900002" y="4318522"/>
            <a:ext cx="11218948" cy="3102388"/>
          </a:xfrm>
          <a:prstGeom prst="rect">
            <a:avLst/>
          </a:prstGeom>
          <a:noFill/>
          <a:ln>
            <a:noFill/>
          </a:ln>
        </p:spPr>
        <p:txBody>
          <a:bodyPr spcFirstLastPara="1" wrap="square" lIns="0" tIns="0" rIns="0" bIns="0" anchor="t" anchorCtr="0">
            <a:spAutoFit/>
          </a:bodyPr>
          <a:lstStyle/>
          <a:p>
            <a:pPr lvl="0" algn="just">
              <a:lnSpc>
                <a:spcPct val="140016"/>
              </a:lnSpc>
            </a:pP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Proje kapsamında geliştirilen otonom cihazlar, ağaç gövdelerine entegre edilerek bir </a:t>
            </a:r>
            <a:r>
              <a:rPr lang="tr-TR" sz="2400" b="1" dirty="0">
                <a:latin typeface="Open Sans SemiBold" panose="020B0706030804020204" pitchFamily="34" charset="0"/>
                <a:ea typeface="Open Sans SemiBold" panose="020B0706030804020204" pitchFamily="34" charset="0"/>
                <a:cs typeface="Open Sans SemiBold" panose="020B0706030804020204" pitchFamily="34" charset="0"/>
              </a:rPr>
              <a:t>akustik güvenlik ağı</a:t>
            </a: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 oluşturur. Yangın tespiti durumunda sistem, hedef türlerinin duyarlılık gösterdiği </a:t>
            </a:r>
            <a:r>
              <a:rPr lang="tr-TR" sz="2400" b="1" dirty="0">
                <a:latin typeface="Open Sans SemiBold" panose="020B0706030804020204" pitchFamily="34" charset="0"/>
                <a:ea typeface="Open Sans SemiBold" panose="020B0706030804020204" pitchFamily="34" charset="0"/>
                <a:cs typeface="Open Sans SemiBold" panose="020B0706030804020204" pitchFamily="34" charset="0"/>
              </a:rPr>
              <a:t>spesifik frekans aralıklarında (ultrasonik/sonik)</a:t>
            </a: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 uyarı sinyalleri yayınlar. Bu sayede yaban hayvanları üzerinde kontrollü bir </a:t>
            </a:r>
            <a:r>
              <a:rPr lang="tr-TR" sz="2400" b="1" dirty="0">
                <a:latin typeface="Open Sans SemiBold" panose="020B0706030804020204" pitchFamily="34" charset="0"/>
                <a:ea typeface="Open Sans SemiBold" panose="020B0706030804020204" pitchFamily="34" charset="0"/>
                <a:cs typeface="Open Sans SemiBold" panose="020B0706030804020204" pitchFamily="34" charset="0"/>
              </a:rPr>
              <a:t>uzaklaştırma etkisi</a:t>
            </a: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 yaratılarak, canlıların yangın hattından güvenli bölgelere tahliyesi biyolojik bir yönlendirmeyle sağlanır.</a:t>
            </a:r>
            <a:endParaRPr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54" name="Google Shape;154;p5" title="C7 White with Colorful Borders.png"/>
          <p:cNvPicPr preferRelativeResize="0"/>
          <p:nvPr/>
        </p:nvPicPr>
        <p:blipFill rotWithShape="1">
          <a:blip r:embed="rId4">
            <a:alphaModFix/>
          </a:blip>
          <a:srcRect t="9263" b="41223"/>
          <a:stretch/>
        </p:blipFill>
        <p:spPr>
          <a:xfrm>
            <a:off x="13042648" y="9291170"/>
            <a:ext cx="4321654" cy="611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60" name="Google Shape;160;p6"/>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61" name="Google Shape;161;p6"/>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62" name="Google Shape;162;p6"/>
          <p:cNvSpPr txBox="1"/>
          <p:nvPr/>
        </p:nvSpPr>
        <p:spPr>
          <a:xfrm>
            <a:off x="1261606" y="1913659"/>
            <a:ext cx="4642318" cy="2215991"/>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None/>
            </a:pPr>
            <a:r>
              <a:rPr lang="en-US" sz="7200" b="1" i="0" u="none" strike="noStrike" cap="none" dirty="0" err="1">
                <a:solidFill>
                  <a:srgbClr val="545454"/>
                </a:solidFill>
                <a:latin typeface="Open Sans"/>
                <a:ea typeface="Open Sans"/>
                <a:cs typeface="Open Sans"/>
                <a:sym typeface="Open Sans"/>
              </a:rPr>
              <a:t>Mevcut</a:t>
            </a:r>
            <a:r>
              <a:rPr lang="en-US" sz="7200" b="1" i="0" u="none" strike="noStrike" cap="none" dirty="0">
                <a:solidFill>
                  <a:srgbClr val="545454"/>
                </a:solidFill>
                <a:latin typeface="Open Sans"/>
                <a:ea typeface="Open Sans"/>
                <a:cs typeface="Open Sans"/>
                <a:sym typeface="Open Sans"/>
              </a:rPr>
              <a:t> </a:t>
            </a:r>
            <a:r>
              <a:rPr lang="en-US" sz="7200" b="1" i="0" u="none" strike="noStrike" cap="none" dirty="0" err="1">
                <a:solidFill>
                  <a:srgbClr val="545454"/>
                </a:solidFill>
                <a:latin typeface="Open Sans"/>
                <a:ea typeface="Open Sans"/>
                <a:cs typeface="Open Sans"/>
                <a:sym typeface="Open Sans"/>
              </a:rPr>
              <a:t>Çözümler</a:t>
            </a:r>
            <a:endParaRPr dirty="0"/>
          </a:p>
        </p:txBody>
      </p:sp>
      <p:sp>
        <p:nvSpPr>
          <p:cNvPr id="163" name="Google Shape;163;p6"/>
          <p:cNvSpPr txBox="1"/>
          <p:nvPr/>
        </p:nvSpPr>
        <p:spPr>
          <a:xfrm>
            <a:off x="1028700" y="4716780"/>
            <a:ext cx="6785021" cy="15506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n-US" sz="2399" b="1" i="0" u="none" strike="noStrike" cap="none" dirty="0">
                <a:solidFill>
                  <a:srgbClr val="545454"/>
                </a:solidFill>
                <a:latin typeface="Open Sans SemiBold"/>
                <a:ea typeface="Open Sans SemiBold"/>
                <a:cs typeface="Open Sans SemiBold"/>
                <a:sym typeface="Open Sans SemiBold"/>
              </a:rPr>
              <a:t>• </a:t>
            </a:r>
            <a:r>
              <a:rPr lang="en-US" sz="2399" b="1" i="0" u="none" strike="noStrike" cap="none" dirty="0" err="1">
                <a:solidFill>
                  <a:srgbClr val="545454"/>
                </a:solidFill>
                <a:latin typeface="Open Sans SemiBold"/>
                <a:ea typeface="Open Sans SemiBold"/>
                <a:cs typeface="Open Sans SemiBold"/>
                <a:sym typeface="Open Sans SemiBold"/>
              </a:rPr>
              <a:t>Piyasada</a:t>
            </a:r>
            <a:r>
              <a:rPr lang="en-US" sz="2399" b="1" i="0" u="none" strike="noStrike" cap="none" dirty="0">
                <a:solidFill>
                  <a:srgbClr val="545454"/>
                </a:solidFill>
                <a:latin typeface="Open Sans SemiBold"/>
                <a:ea typeface="Open Sans SemiBold"/>
                <a:cs typeface="Open Sans SemiBold"/>
                <a:sym typeface="Open Sans SemiBold"/>
              </a:rPr>
              <a:t> </a:t>
            </a:r>
            <a:r>
              <a:rPr lang="tr-TR" sz="2399" b="1" i="0" u="none" strike="noStrike" cap="none" dirty="0">
                <a:solidFill>
                  <a:srgbClr val="545454"/>
                </a:solidFill>
                <a:latin typeface="Open Sans SemiBold"/>
                <a:ea typeface="Open Sans SemiBold"/>
                <a:cs typeface="Open Sans SemiBold"/>
                <a:sym typeface="Open Sans SemiBold"/>
              </a:rPr>
              <a:t>işitsel temelli hayvan yönlendirme yöntemleri kullanan cihazlar olsa da, yangın ve benzeri alanda kullanılan bir cihaz yoktur.</a:t>
            </a:r>
            <a:endParaRPr dirty="0"/>
          </a:p>
        </p:txBody>
      </p:sp>
      <p:sp>
        <p:nvSpPr>
          <p:cNvPr id="164" name="Google Shape;164;p6"/>
          <p:cNvSpPr txBox="1"/>
          <p:nvPr/>
        </p:nvSpPr>
        <p:spPr>
          <a:xfrm>
            <a:off x="9144000" y="4716780"/>
            <a:ext cx="7909560" cy="3101234"/>
          </a:xfrm>
          <a:prstGeom prst="rect">
            <a:avLst/>
          </a:prstGeom>
          <a:noFill/>
          <a:ln>
            <a:noFill/>
          </a:ln>
        </p:spPr>
        <p:txBody>
          <a:bodyPr spcFirstLastPara="1" wrap="square" lIns="0" tIns="0" rIns="0" bIns="0" anchor="t" anchorCtr="0">
            <a:spAutoFit/>
          </a:bodyPr>
          <a:lstStyle/>
          <a:p>
            <a:pPr marL="0" marR="0" lvl="0" indent="0" algn="just" rtl="0">
              <a:lnSpc>
                <a:spcPct val="140016"/>
              </a:lnSpc>
              <a:spcBef>
                <a:spcPts val="0"/>
              </a:spcBef>
              <a:spcAft>
                <a:spcPts val="0"/>
              </a:spcAft>
              <a:buNone/>
            </a:pPr>
            <a:r>
              <a:rPr lang="en-US" sz="2399" b="1" i="0" u="none" strike="noStrike" cap="none" dirty="0">
                <a:solidFill>
                  <a:srgbClr val="545454"/>
                </a:solidFill>
                <a:latin typeface="Open Sans SemiBold"/>
                <a:ea typeface="Open Sans SemiBold"/>
                <a:cs typeface="Open Sans SemiBold"/>
                <a:sym typeface="Open Sans SemiBold"/>
              </a:rPr>
              <a:t>• </a:t>
            </a:r>
            <a:r>
              <a:rPr lang="tr-TR" sz="2399" b="1" i="0" u="none" strike="noStrike" cap="none" dirty="0">
                <a:solidFill>
                  <a:srgbClr val="545454"/>
                </a:solidFill>
                <a:latin typeface="Open Sans SemiBold"/>
                <a:ea typeface="Open Sans SemiBold"/>
                <a:cs typeface="Open Sans SemiBold"/>
                <a:sym typeface="Open Sans SemiBold"/>
              </a:rPr>
              <a:t>Geliştirdiğimiz cihaz halihazırda bilinen yöntemleri daha önce kullanılmamış bir alana yönlendirerek hem yaban hayatını ve ekolojiyi hem de ülkemizin en büyük problemlerinden biri olan yangın probleminin çözümleri  için ilham olabilecek bir nitelik oluşturmuştur.</a:t>
            </a:r>
            <a:endParaRPr dirty="0"/>
          </a:p>
        </p:txBody>
      </p:sp>
      <p:pic>
        <p:nvPicPr>
          <p:cNvPr id="166" name="Google Shape;166;p6" title="C7 White with Colorful Borders.png"/>
          <p:cNvPicPr preferRelativeResize="0"/>
          <p:nvPr/>
        </p:nvPicPr>
        <p:blipFill rotWithShape="1">
          <a:blip r:embed="rId3">
            <a:alphaModFix/>
          </a:blip>
          <a:srcRect t="9263" b="41223"/>
          <a:stretch/>
        </p:blipFill>
        <p:spPr>
          <a:xfrm>
            <a:off x="13042648" y="9291170"/>
            <a:ext cx="4321654" cy="611174"/>
          </a:xfrm>
          <a:prstGeom prst="rect">
            <a:avLst/>
          </a:prstGeom>
          <a:noFill/>
          <a:ln>
            <a:noFill/>
          </a:ln>
        </p:spPr>
      </p:pic>
      <p:sp>
        <p:nvSpPr>
          <p:cNvPr id="12" name="Google Shape;162;p6">
            <a:extLst>
              <a:ext uri="{FF2B5EF4-FFF2-40B4-BE49-F238E27FC236}">
                <a16:creationId xmlns:a16="http://schemas.microsoft.com/office/drawing/2014/main" id="{934634F5-A6CE-4D90-B92E-6BF06326EB46}"/>
              </a:ext>
            </a:extLst>
          </p:cNvPr>
          <p:cNvSpPr txBox="1"/>
          <p:nvPr/>
        </p:nvSpPr>
        <p:spPr>
          <a:xfrm>
            <a:off x="9268548" y="1913659"/>
            <a:ext cx="6966862" cy="221599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tr-TR" sz="7200" b="1" dirty="0">
                <a:solidFill>
                  <a:srgbClr val="545454"/>
                </a:solidFill>
                <a:latin typeface="Open Sans"/>
                <a:ea typeface="Open Sans"/>
                <a:cs typeface="Open Sans"/>
                <a:sym typeface="Open Sans"/>
              </a:rPr>
              <a:t>Çözümünüzün</a:t>
            </a:r>
          </a:p>
          <a:p>
            <a:pPr marL="0" marR="0" lvl="0" indent="0" algn="l" rtl="0">
              <a:spcBef>
                <a:spcPts val="0"/>
              </a:spcBef>
              <a:spcAft>
                <a:spcPts val="0"/>
              </a:spcAft>
              <a:buNone/>
            </a:pPr>
            <a:r>
              <a:rPr lang="tr-TR" sz="7200" b="1" dirty="0">
                <a:solidFill>
                  <a:srgbClr val="545454"/>
                </a:solidFill>
                <a:latin typeface="Open Sans"/>
                <a:ea typeface="Open Sans"/>
                <a:cs typeface="Open Sans"/>
                <a:sym typeface="Open Sans"/>
              </a:rPr>
              <a:t>Farkları</a:t>
            </a:r>
            <a:endParaRPr lang="tr-TR" sz="7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7"/>
          <p:cNvSpPr txBox="1"/>
          <p:nvPr/>
        </p:nvSpPr>
        <p:spPr>
          <a:xfrm>
            <a:off x="1028700" y="7673125"/>
            <a:ext cx="10883400" cy="1795556"/>
          </a:xfrm>
          <a:prstGeom prst="rect">
            <a:avLst/>
          </a:prstGeom>
          <a:noFill/>
          <a:ln>
            <a:noFill/>
          </a:ln>
        </p:spPr>
        <p:txBody>
          <a:bodyPr spcFirstLastPara="1" wrap="square" lIns="0" tIns="0" rIns="0" bIns="0" anchor="t" anchorCtr="0">
            <a:spAutoFit/>
          </a:bodyPr>
          <a:lstStyle/>
          <a:p>
            <a:pPr marL="0" marR="0" lvl="0" indent="0" algn="l" rtl="0">
              <a:lnSpc>
                <a:spcPct val="110002"/>
              </a:lnSpc>
              <a:spcBef>
                <a:spcPts val="0"/>
              </a:spcBef>
              <a:spcAft>
                <a:spcPts val="0"/>
              </a:spcAft>
              <a:buNone/>
            </a:pPr>
            <a:r>
              <a:rPr lang="en-US" sz="10607" b="1" i="0" u="none" strike="noStrike" cap="none" dirty="0">
                <a:solidFill>
                  <a:srgbClr val="545454"/>
                </a:solidFill>
                <a:latin typeface="Open Sans"/>
                <a:ea typeface="Open Sans"/>
                <a:cs typeface="Open Sans"/>
                <a:sym typeface="Open Sans"/>
              </a:rPr>
              <a:t>TEŞEKKÜR</a:t>
            </a:r>
            <a:r>
              <a:rPr lang="tr-TR" sz="10607" b="1" i="0" u="none" strike="noStrike" cap="none" dirty="0">
                <a:solidFill>
                  <a:srgbClr val="545454"/>
                </a:solidFill>
                <a:latin typeface="Open Sans"/>
                <a:ea typeface="Open Sans"/>
                <a:cs typeface="Open Sans"/>
                <a:sym typeface="Open Sans"/>
              </a:rPr>
              <a:t>LER</a:t>
            </a:r>
            <a:r>
              <a:rPr lang="en-US" sz="10607" b="1" i="0" u="none" strike="noStrike" cap="none" dirty="0">
                <a:solidFill>
                  <a:srgbClr val="545454"/>
                </a:solidFill>
                <a:latin typeface="Open Sans"/>
                <a:ea typeface="Open Sans"/>
                <a:cs typeface="Open Sans"/>
                <a:sym typeface="Open Sans"/>
              </a:rPr>
              <a:t>!</a:t>
            </a:r>
            <a:endParaRPr dirty="0"/>
          </a:p>
        </p:txBody>
      </p:sp>
      <p:grpSp>
        <p:nvGrpSpPr>
          <p:cNvPr id="172" name="Google Shape;172;p7"/>
          <p:cNvGrpSpPr/>
          <p:nvPr/>
        </p:nvGrpSpPr>
        <p:grpSpPr>
          <a:xfrm>
            <a:off x="12381974" y="578525"/>
            <a:ext cx="5566241" cy="8906528"/>
            <a:chOff x="0" y="-95250"/>
            <a:chExt cx="2033033" cy="3796312"/>
          </a:xfrm>
        </p:grpSpPr>
        <p:sp>
          <p:nvSpPr>
            <p:cNvPr id="173" name="Google Shape;173;p7"/>
            <p:cNvSpPr/>
            <p:nvPr/>
          </p:nvSpPr>
          <p:spPr>
            <a:xfrm>
              <a:off x="0" y="0"/>
              <a:ext cx="2033033" cy="3701062"/>
            </a:xfrm>
            <a:custGeom>
              <a:avLst/>
              <a:gdLst/>
              <a:ahLst/>
              <a:cxnLst/>
              <a:rect l="l" t="t" r="r" b="b"/>
              <a:pathLst>
                <a:path w="2033033" h="3701062" extrusionOk="0">
                  <a:moveTo>
                    <a:pt x="0" y="0"/>
                  </a:moveTo>
                  <a:lnTo>
                    <a:pt x="2033033" y="0"/>
                  </a:lnTo>
                  <a:lnTo>
                    <a:pt x="2033033" y="3701062"/>
                  </a:lnTo>
                  <a:lnTo>
                    <a:pt x="0" y="3701062"/>
                  </a:lnTo>
                  <a:close/>
                </a:path>
              </a:pathLst>
            </a:custGeom>
            <a:solidFill>
              <a:srgbClr val="5E2B7F"/>
            </a:solidFill>
            <a:ln>
              <a:noFill/>
            </a:ln>
          </p:spPr>
          <p:txBody>
            <a:bodyPr/>
            <a:lstStyle/>
            <a:p>
              <a:endParaRPr lang="tr-TR"/>
            </a:p>
          </p:txBody>
        </p:sp>
        <p:sp>
          <p:nvSpPr>
            <p:cNvPr id="174" name="Google Shape;174;p7"/>
            <p:cNvSpPr txBox="1"/>
            <p:nvPr/>
          </p:nvSpPr>
          <p:spPr>
            <a:xfrm>
              <a:off x="0" y="-95250"/>
              <a:ext cx="2033033" cy="3796312"/>
            </a:xfrm>
            <a:prstGeom prst="rect">
              <a:avLst/>
            </a:prstGeom>
            <a:noFill/>
            <a:ln>
              <a:noFill/>
            </a:ln>
          </p:spPr>
          <p:txBody>
            <a:bodyPr spcFirstLastPara="1" wrap="square" lIns="50800" tIns="50800" rIns="50800" bIns="50800" anchor="ctr" anchorCtr="0">
              <a:noAutofit/>
            </a:bodyPr>
            <a:lstStyle/>
            <a:p>
              <a:pPr marL="0" marR="0" lvl="0" indent="0" algn="ctr" rtl="0">
                <a:lnSpc>
                  <a:spcPct val="178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 name="Google Shape;175;p7"/>
          <p:cNvGrpSpPr/>
          <p:nvPr/>
        </p:nvGrpSpPr>
        <p:grpSpPr>
          <a:xfrm>
            <a:off x="16320523" y="871831"/>
            <a:ext cx="2174770" cy="1060934"/>
            <a:chOff x="0" y="-95250"/>
            <a:chExt cx="568013" cy="277098"/>
          </a:xfrm>
        </p:grpSpPr>
        <p:sp>
          <p:nvSpPr>
            <p:cNvPr id="176" name="Google Shape;176;p7"/>
            <p:cNvSpPr/>
            <p:nvPr/>
          </p:nvSpPr>
          <p:spPr>
            <a:xfrm>
              <a:off x="0" y="0"/>
              <a:ext cx="568013" cy="181848"/>
            </a:xfrm>
            <a:custGeom>
              <a:avLst/>
              <a:gdLst/>
              <a:ahLst/>
              <a:cxnLst/>
              <a:rect l="l" t="t" r="r" b="b"/>
              <a:pathLst>
                <a:path w="568013" h="181848" extrusionOk="0">
                  <a:moveTo>
                    <a:pt x="0" y="0"/>
                  </a:moveTo>
                  <a:lnTo>
                    <a:pt x="568013" y="0"/>
                  </a:lnTo>
                  <a:lnTo>
                    <a:pt x="568013" y="181848"/>
                  </a:lnTo>
                  <a:lnTo>
                    <a:pt x="0" y="181848"/>
                  </a:lnTo>
                  <a:close/>
                </a:path>
              </a:pathLst>
            </a:custGeom>
            <a:solidFill>
              <a:srgbClr val="F9C314"/>
            </a:solidFill>
            <a:ln>
              <a:noFill/>
            </a:ln>
          </p:spPr>
          <p:txBody>
            <a:bodyPr/>
            <a:lstStyle/>
            <a:p>
              <a:endParaRPr lang="tr-TR"/>
            </a:p>
          </p:txBody>
        </p:sp>
        <p:sp>
          <p:nvSpPr>
            <p:cNvPr id="177" name="Google Shape;177;p7"/>
            <p:cNvSpPr txBox="1"/>
            <p:nvPr/>
          </p:nvSpPr>
          <p:spPr>
            <a:xfrm>
              <a:off x="0" y="-95250"/>
              <a:ext cx="568013" cy="277098"/>
            </a:xfrm>
            <a:prstGeom prst="rect">
              <a:avLst/>
            </a:prstGeom>
            <a:noFill/>
            <a:ln>
              <a:noFill/>
            </a:ln>
          </p:spPr>
          <p:txBody>
            <a:bodyPr spcFirstLastPara="1" wrap="square" lIns="50800" tIns="50800" rIns="50800" bIns="50800" anchor="ctr" anchorCtr="0">
              <a:noAutofit/>
            </a:bodyPr>
            <a:lstStyle/>
            <a:p>
              <a:pPr marL="0" marR="0" lvl="0" indent="0" algn="ctr" rtl="0">
                <a:lnSpc>
                  <a:spcPct val="178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8" name="Google Shape;178;p7"/>
          <p:cNvSpPr txBox="1"/>
          <p:nvPr/>
        </p:nvSpPr>
        <p:spPr>
          <a:xfrm>
            <a:off x="12593349" y="3513790"/>
            <a:ext cx="5354866" cy="304698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6000" b="1" i="0" u="none" strike="noStrike" cap="none" dirty="0">
                <a:solidFill>
                  <a:srgbClr val="FFFFFF"/>
                </a:solidFill>
                <a:latin typeface="Open Sans"/>
                <a:ea typeface="Open Sans"/>
                <a:cs typeface="Open Sans"/>
                <a:sym typeface="Open Sans"/>
              </a:rPr>
              <a:t>BEN </a:t>
            </a:r>
            <a:endParaRPr lang="tr-TR" sz="6000" b="1" i="0" u="none" strike="noStrike" cap="none" dirty="0">
              <a:solidFill>
                <a:srgbClr val="FFFFFF"/>
              </a:solidFill>
              <a:latin typeface="Open Sans"/>
              <a:ea typeface="Open Sans"/>
              <a:cs typeface="Open Sans"/>
              <a:sym typeface="Open Sans"/>
            </a:endParaRPr>
          </a:p>
          <a:p>
            <a:pPr marL="0" marR="0" lvl="0" indent="0" algn="l" rtl="0">
              <a:lnSpc>
                <a:spcPct val="110000"/>
              </a:lnSpc>
              <a:spcBef>
                <a:spcPts val="0"/>
              </a:spcBef>
              <a:spcAft>
                <a:spcPts val="0"/>
              </a:spcAft>
              <a:buNone/>
            </a:pPr>
            <a:r>
              <a:rPr lang="en-US" sz="6000" b="1" i="0" u="none" strike="noStrike" cap="none" dirty="0">
                <a:solidFill>
                  <a:srgbClr val="FFFFFF"/>
                </a:solidFill>
                <a:latin typeface="Open Sans"/>
                <a:ea typeface="Open Sans"/>
                <a:cs typeface="Open Sans"/>
                <a:sym typeface="Open Sans"/>
              </a:rPr>
              <a:t>GENÇ BİR YENİLİKÇİYİM</a:t>
            </a:r>
            <a:endParaRPr sz="1200" dirty="0"/>
          </a:p>
        </p:txBody>
      </p:sp>
      <p:grpSp>
        <p:nvGrpSpPr>
          <p:cNvPr id="179" name="Google Shape;179;p7"/>
          <p:cNvGrpSpPr/>
          <p:nvPr/>
        </p:nvGrpSpPr>
        <p:grpSpPr>
          <a:xfrm>
            <a:off x="13138300" y="7673125"/>
            <a:ext cx="4083174" cy="445325"/>
            <a:chOff x="0" y="-38100"/>
            <a:chExt cx="4528809" cy="593767"/>
          </a:xfrm>
        </p:grpSpPr>
        <p:sp>
          <p:nvSpPr>
            <p:cNvPr id="180" name="Google Shape;180;p7"/>
            <p:cNvSpPr/>
            <p:nvPr/>
          </p:nvSpPr>
          <p:spPr>
            <a:xfrm>
              <a:off x="0" y="50800"/>
              <a:ext cx="504867" cy="504867"/>
            </a:xfrm>
            <a:custGeom>
              <a:avLst/>
              <a:gdLst/>
              <a:ahLst/>
              <a:cxnLst/>
              <a:rect l="l" t="t" r="r" b="b"/>
              <a:pathLst>
                <a:path w="504867" h="504867" extrusionOk="0">
                  <a:moveTo>
                    <a:pt x="0" y="0"/>
                  </a:moveTo>
                  <a:lnTo>
                    <a:pt x="504867" y="0"/>
                  </a:lnTo>
                  <a:lnTo>
                    <a:pt x="504867" y="504867"/>
                  </a:lnTo>
                  <a:lnTo>
                    <a:pt x="0" y="504867"/>
                  </a:lnTo>
                  <a:lnTo>
                    <a:pt x="0" y="0"/>
                  </a:lnTo>
                  <a:close/>
                </a:path>
              </a:pathLst>
            </a:custGeom>
            <a:blipFill rotWithShape="1">
              <a:blip r:embed="rId3">
                <a:alphaModFix/>
              </a:blip>
              <a:stretch>
                <a:fillRect/>
              </a:stretch>
            </a:blipFill>
            <a:ln>
              <a:noFill/>
            </a:ln>
          </p:spPr>
          <p:txBody>
            <a:bodyPr/>
            <a:lstStyle/>
            <a:p>
              <a:endParaRPr lang="tr-TR"/>
            </a:p>
          </p:txBody>
        </p:sp>
        <p:sp>
          <p:nvSpPr>
            <p:cNvPr id="181" name="Google Shape;181;p7"/>
            <p:cNvSpPr txBox="1"/>
            <p:nvPr/>
          </p:nvSpPr>
          <p:spPr>
            <a:xfrm>
              <a:off x="618609" y="-38100"/>
              <a:ext cx="3910200" cy="492600"/>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1" i="0" u="none" strike="noStrike" cap="none">
                  <a:solidFill>
                    <a:srgbClr val="FFFFFF"/>
                  </a:solidFill>
                  <a:latin typeface="Open Sans Medium"/>
                  <a:ea typeface="Open Sans Medium"/>
                  <a:cs typeface="Open Sans Medium"/>
                  <a:sym typeface="Open Sans Medium"/>
                </a:rPr>
                <a:t>www.codeavour.org</a:t>
              </a:r>
              <a:endParaRPr/>
            </a:p>
          </p:txBody>
        </p:sp>
      </p:grpSp>
      <p:grpSp>
        <p:nvGrpSpPr>
          <p:cNvPr id="182" name="Google Shape;182;p7"/>
          <p:cNvGrpSpPr/>
          <p:nvPr/>
        </p:nvGrpSpPr>
        <p:grpSpPr>
          <a:xfrm>
            <a:off x="1028700" y="697811"/>
            <a:ext cx="11119750" cy="6394790"/>
            <a:chOff x="0" y="-28575"/>
            <a:chExt cx="3050315" cy="1754187"/>
          </a:xfrm>
        </p:grpSpPr>
        <p:sp>
          <p:nvSpPr>
            <p:cNvPr id="183" name="Google Shape;183;p7"/>
            <p:cNvSpPr/>
            <p:nvPr/>
          </p:nvSpPr>
          <p:spPr>
            <a:xfrm>
              <a:off x="0" y="0"/>
              <a:ext cx="3050315" cy="1725612"/>
            </a:xfrm>
            <a:custGeom>
              <a:avLst/>
              <a:gdLst/>
              <a:ahLst/>
              <a:cxnLst/>
              <a:rect l="l" t="t" r="r" b="b"/>
              <a:pathLst>
                <a:path w="3050315" h="1725612" extrusionOk="0">
                  <a:moveTo>
                    <a:pt x="0" y="0"/>
                  </a:moveTo>
                  <a:lnTo>
                    <a:pt x="3050315" y="0"/>
                  </a:lnTo>
                  <a:lnTo>
                    <a:pt x="3050315" y="1725612"/>
                  </a:lnTo>
                  <a:lnTo>
                    <a:pt x="0" y="1725612"/>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84" name="Google Shape;184;p7"/>
            <p:cNvSpPr txBox="1"/>
            <p:nvPr/>
          </p:nvSpPr>
          <p:spPr>
            <a:xfrm>
              <a:off x="0" y="-28575"/>
              <a:ext cx="3050315" cy="1754187"/>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5" name="Google Shape;185;p7"/>
          <p:cNvSpPr txBox="1"/>
          <p:nvPr/>
        </p:nvSpPr>
        <p:spPr>
          <a:xfrm>
            <a:off x="4441468" y="3394417"/>
            <a:ext cx="4702532" cy="1312026"/>
          </a:xfrm>
          <a:prstGeom prst="rect">
            <a:avLst/>
          </a:prstGeom>
          <a:noFill/>
          <a:ln>
            <a:noFill/>
          </a:ln>
        </p:spPr>
        <p:txBody>
          <a:bodyPr spcFirstLastPara="1" wrap="square" lIns="0" tIns="0" rIns="0" bIns="0" anchor="t" anchorCtr="0">
            <a:spAutoFit/>
          </a:bodyPr>
          <a:lstStyle/>
          <a:p>
            <a:pPr marL="0" marR="0" lvl="0" indent="0" algn="ctr" rtl="0">
              <a:lnSpc>
                <a:spcPct val="140032"/>
              </a:lnSpc>
              <a:spcBef>
                <a:spcPts val="0"/>
              </a:spcBef>
              <a:spcAft>
                <a:spcPts val="0"/>
              </a:spcAft>
              <a:buNone/>
            </a:pPr>
            <a:r>
              <a:rPr lang="en-US" sz="3045" b="1" i="0" u="none" strike="noStrike" cap="none" dirty="0" err="1">
                <a:solidFill>
                  <a:srgbClr val="545454"/>
                </a:solidFill>
                <a:latin typeface="Open Sans"/>
                <a:ea typeface="Open Sans"/>
                <a:cs typeface="Open Sans"/>
                <a:sym typeface="Open Sans"/>
              </a:rPr>
              <a:t>Projenizin</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Öne</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Çıkan</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Görselini</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Ekleyin</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282</Words>
  <Application>Microsoft Office PowerPoint</Application>
  <PresentationFormat>Özel</PresentationFormat>
  <Paragraphs>37</Paragraphs>
  <Slides>7</Slides>
  <Notes>7</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7</vt:i4>
      </vt:variant>
    </vt:vector>
  </HeadingPairs>
  <TitlesOfParts>
    <vt:vector size="13" baseType="lpstr">
      <vt:lpstr>Open Sans SemiBold</vt:lpstr>
      <vt:lpstr>Arial</vt:lpstr>
      <vt:lpstr>Calibri</vt:lpstr>
      <vt:lpstr>Open Sans Medium</vt:lpstr>
      <vt:lpstr>Open Sans</vt: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cp:lastModifiedBy>Ayberk Tanrıverdi</cp:lastModifiedBy>
  <cp:revision>3</cp:revision>
  <dcterms:created xsi:type="dcterms:W3CDTF">2006-08-16T00:00:00Z</dcterms:created>
  <dcterms:modified xsi:type="dcterms:W3CDTF">2026-02-19T22:36:45Z</dcterms:modified>
</cp:coreProperties>
</file>